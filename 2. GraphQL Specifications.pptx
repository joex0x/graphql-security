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72" r:id="rId10"/>
    <p:sldId id="273" r:id="rId11"/>
    <p:sldId id="263" r:id="rId12"/>
    <p:sldId id="264" r:id="rId13"/>
    <p:sldId id="274" r:id="rId14"/>
    <p:sldId id="265" r:id="rId15"/>
    <p:sldId id="268" r:id="rId16"/>
    <p:sldId id="266" r:id="rId17"/>
    <p:sldId id="275" r:id="rId18"/>
    <p:sldId id="267" r:id="rId19"/>
    <p:sldId id="269" r:id="rId20"/>
    <p:sldId id="276" r:id="rId21"/>
    <p:sldId id="277" r:id="rId22"/>
    <p:sldId id="28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1226" autoAdjust="0"/>
  </p:normalViewPr>
  <p:slideViewPr>
    <p:cSldViewPr snapToGrid="0" snapToObjects="1">
      <p:cViewPr varScale="1">
        <p:scale>
          <a:sx n="76" d="100"/>
          <a:sy n="76" d="100"/>
        </p:scale>
        <p:origin x="16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97E6B-267A-4A74-B9F3-120DAB71FF9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8A0BE-897C-495D-95E7-6D5F1768B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9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400" b="1" dirty="0"/>
              <a:t>UPDATE pastes SET content = 'My first mutation!’ WHERE id = 1;</a:t>
            </a:r>
          </a:p>
          <a:p>
            <a:r>
              <a:rPr lang="en-US" sz="4400" b="1" dirty="0"/>
              <a:t>SELECT id, title, content FROM pastes WHERE id = 1;</a:t>
            </a:r>
          </a:p>
          <a:p>
            <a:endParaRPr lang="en-US" sz="4400" b="1" dirty="0"/>
          </a:p>
          <a:p>
            <a:r>
              <a:rPr lang="en-US" sz="4400" b="0" dirty="0"/>
              <a:t>For MySQL 8.0.21+,</a:t>
            </a:r>
          </a:p>
          <a:p>
            <a:r>
              <a:rPr lang="en-US" sz="4400" b="1" dirty="0"/>
              <a:t>UPDATE pastes SET content = 'My first mutation!’ WHERE id = 1 RETURNING id, title, content;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8A0BE-897C-495D-95E7-6D5F1768B1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98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SELECT u.id, </a:t>
            </a:r>
            <a:r>
              <a:rPr lang="en-US" b="1" dirty="0" err="1"/>
              <a:t>u.title</a:t>
            </a:r>
            <a:r>
              <a:rPr lang="en-US" b="1" dirty="0"/>
              <a:t>, </a:t>
            </a:r>
            <a:r>
              <a:rPr lang="en-US" b="1" dirty="0" err="1"/>
              <a:t>u.content</a:t>
            </a:r>
            <a:r>
              <a:rPr lang="en-US" b="1" dirty="0"/>
              <a:t>, o.name AS </a:t>
            </a:r>
            <a:r>
              <a:rPr lang="en-US" b="1" dirty="0" err="1"/>
              <a:t>owner_name</a:t>
            </a:r>
            <a:endParaRPr lang="en-US" b="1" dirty="0"/>
          </a:p>
          <a:p>
            <a:r>
              <a:rPr lang="en-US" b="1" dirty="0"/>
              <a:t>FROM users u</a:t>
            </a:r>
          </a:p>
          <a:p>
            <a:r>
              <a:rPr lang="en-US" b="1" dirty="0"/>
              <a:t>LEFT JOIN owner o ON </a:t>
            </a:r>
            <a:r>
              <a:rPr lang="en-US" b="1" dirty="0" err="1"/>
              <a:t>u.owner_id</a:t>
            </a:r>
            <a:r>
              <a:rPr lang="en-US" b="1" dirty="0"/>
              <a:t> = o.id;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8A0BE-897C-495D-95E7-6D5F1768B1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82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SELECT CONCAT(UCASE(LEFT(username, 1)), SUBSTRING(username, 2)) AS username FROM users WHERE id = 1;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8A0BE-897C-495D-95E7-6D5F1768B1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73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SELECT title AS </a:t>
            </a:r>
            <a:r>
              <a:rPr lang="en-US" b="1" dirty="0" err="1"/>
              <a:t>myalias</a:t>
            </a:r>
            <a:r>
              <a:rPr lang="en-US" b="1" dirty="0"/>
              <a:t> FROM pastes;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8A0BE-897C-495D-95E7-6D5F1768B1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14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8A0BE-897C-495D-95E7-6D5F1768B1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63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SELECT id, title, content FROM pastes WHERE public = ?;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8A0BE-897C-495D-95E7-6D5F1768B1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20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SELECT id, username FROM users ORDER BY id ASC LIMIT 100;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8A0BE-897C-495D-95E7-6D5F1768B1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73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58253-DC95-6066-9458-2BE66588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68DB0-0914-733A-67F9-950AB4389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CB70E-725E-3B8B-31CC-38CF5CE9F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BD5AB-66F2-FF26-87B4-CB525966D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14452-1D87-47B0-AB4A-90D146CDDD4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57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455" y="2130425"/>
            <a:ext cx="8458201" cy="1470025"/>
          </a:xfrm>
        </p:spPr>
        <p:txBody>
          <a:bodyPr>
            <a:noAutofit/>
          </a:bodyPr>
          <a:lstStyle/>
          <a:p>
            <a:r>
              <a:rPr lang="en-US" sz="6600" b="1" dirty="0" err="1">
                <a:solidFill>
                  <a:srgbClr val="7030A0"/>
                </a:solidFill>
              </a:rPr>
              <a:t>GraphQL</a:t>
            </a:r>
            <a:r>
              <a:rPr lang="en-US" sz="6600" b="1" dirty="0">
                <a:solidFill>
                  <a:srgbClr val="7030A0"/>
                </a:solidFill>
              </a:rPr>
              <a:t> Specifications</a:t>
            </a:r>
            <a:endParaRPr sz="66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1143000"/>
          </a:xfrm>
        </p:spPr>
        <p:txBody>
          <a:bodyPr>
            <a:noAutofit/>
          </a:bodyPr>
          <a:lstStyle/>
          <a:p>
            <a:r>
              <a:rPr b="1" dirty="0">
                <a:solidFill>
                  <a:srgbClr val="7030A0"/>
                </a:solidFill>
              </a:rPr>
              <a:t>Introduction </a:t>
            </a:r>
            <a:r>
              <a:rPr lang="en-US" b="1" dirty="0" err="1">
                <a:solidFill>
                  <a:srgbClr val="7030A0"/>
                </a:solidFill>
              </a:rPr>
              <a:t>GraphQL</a:t>
            </a:r>
            <a:r>
              <a:rPr lang="en-US" b="1" dirty="0">
                <a:solidFill>
                  <a:srgbClr val="7030A0"/>
                </a:solidFill>
              </a:rPr>
              <a:t> Specifications</a:t>
            </a:r>
            <a:endParaRPr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7" y="1395919"/>
            <a:ext cx="8793805" cy="4525963"/>
          </a:xfrm>
        </p:spPr>
        <p:txBody>
          <a:bodyPr wrap="square">
            <a:normAutofit/>
          </a:bodyPr>
          <a:lstStyle/>
          <a:p>
            <a:endParaRPr sz="2800" dirty="0"/>
          </a:p>
          <a:p>
            <a:pPr>
              <a:defRPr sz="1800"/>
            </a:pPr>
            <a:r>
              <a:rPr sz="2800" dirty="0"/>
              <a:t>The </a:t>
            </a:r>
            <a:r>
              <a:rPr sz="2800" dirty="0" err="1"/>
              <a:t>GraphQL</a:t>
            </a:r>
            <a:r>
              <a:rPr sz="2800" dirty="0"/>
              <a:t> specification is divided into two main sections:</a:t>
            </a:r>
          </a:p>
          <a:p>
            <a:pPr lvl="1">
              <a:defRPr sz="1800"/>
            </a:pPr>
            <a:r>
              <a:rPr dirty="0"/>
              <a:t>The Language</a:t>
            </a:r>
            <a:endParaRPr lang="en-US" dirty="0"/>
          </a:p>
          <a:p>
            <a:pPr lvl="1">
              <a:defRPr sz="1800"/>
            </a:pPr>
            <a:r>
              <a:rPr dirty="0"/>
              <a:t>The Type System</a:t>
            </a:r>
            <a:endParaRPr lang="en-US" dirty="0"/>
          </a:p>
          <a:p>
            <a:pPr marL="457200" lvl="1" indent="0">
              <a:buNone/>
              <a:defRPr sz="1800"/>
            </a:pPr>
            <a:endParaRPr lang="en-US" dirty="0"/>
          </a:p>
          <a:p>
            <a:pPr>
              <a:defRPr sz="1800"/>
            </a:pPr>
            <a:r>
              <a:rPr lang="en-US" sz="2800" dirty="0"/>
              <a:t>It is our attack surface which is the sum of all possible attack vectors an adversary can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The Language: Query Anatomy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EDFFB-6042-51D4-600B-DFEC9E739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878" y="1143000"/>
            <a:ext cx="6964244" cy="52944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651" y="7127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Operation Types: Mutations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21" y="1767834"/>
            <a:ext cx="9367736" cy="508439"/>
          </a:xfrm>
        </p:spPr>
        <p:txBody>
          <a:bodyPr wrap="square">
            <a:normAutofit lnSpcReduction="10000"/>
          </a:bodyPr>
          <a:lstStyle/>
          <a:p>
            <a:pPr>
              <a:defRPr sz="1800"/>
            </a:pPr>
            <a:r>
              <a:rPr sz="2800" dirty="0"/>
              <a:t>Function: Allows changing and reading data simultaneously.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13EB8-8856-46A0-8EBD-BE53552C8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8037"/>
            <a:ext cx="9144000" cy="25049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855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Operation Types: Subscriptions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32625"/>
            <a:ext cx="9036996" cy="4525963"/>
          </a:xfrm>
        </p:spPr>
        <p:txBody>
          <a:bodyPr wrap="square">
            <a:normAutofit/>
          </a:bodyPr>
          <a:lstStyle/>
          <a:p>
            <a:pPr>
              <a:defRPr sz="1800"/>
            </a:pPr>
            <a:r>
              <a:rPr sz="2800" dirty="0"/>
              <a:t>Function: Bidirectional retrieval of real-time data via WebSocket.</a:t>
            </a:r>
            <a:endParaRPr lang="en-US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Process: Starts with a handshake upgrading HTTP to WebSocket.</a:t>
            </a:r>
            <a:endParaRPr lang="en-US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Security Risks:</a:t>
            </a:r>
          </a:p>
          <a:p>
            <a:pPr lvl="1">
              <a:defRPr sz="1800"/>
            </a:pPr>
            <a:r>
              <a:rPr dirty="0"/>
              <a:t>CSWSH (Cross-Site WebSocket Hijacking): If origin is unchecked.</a:t>
            </a:r>
          </a:p>
          <a:p>
            <a:pPr lvl="1">
              <a:defRPr sz="1800"/>
            </a:pPr>
            <a:r>
              <a:rPr dirty="0"/>
              <a:t>MITM (Man-In-The-Middle): If connection is unencrypted.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E5BA5-2D28-BD50-251D-F0C4C536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6336-1EAD-D572-A99E-09A42793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855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Operation Types: Subscriptions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F3DDCA-7493-BE2B-01CF-88C221FE2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1650"/>
            <a:ext cx="9144000" cy="23862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65C51B-1E34-C5C8-7E30-B9DA4FF50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63639"/>
            <a:ext cx="9144000" cy="9109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2B84B5-F5EA-4BF9-19A1-9345F3AB8619}"/>
              </a:ext>
            </a:extLst>
          </p:cNvPr>
          <p:cNvSpPr txBox="1"/>
          <p:nvPr/>
        </p:nvSpPr>
        <p:spPr>
          <a:xfrm>
            <a:off x="233464" y="1150665"/>
            <a:ext cx="84533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/>
              <a:t>Start HTTP connection. </a:t>
            </a:r>
          </a:p>
          <a:p>
            <a:pPr marL="342900" indent="-342900">
              <a:buAutoNum type="arabicPeriod"/>
            </a:pPr>
            <a:r>
              <a:rPr lang="en-US" sz="2800" dirty="0"/>
              <a:t>Ask to switch. </a:t>
            </a:r>
          </a:p>
          <a:p>
            <a:pPr marL="342900" indent="-342900">
              <a:buAutoNum type="arabicPeriod"/>
            </a:pPr>
            <a:r>
              <a:rPr lang="en-US" sz="2800" dirty="0"/>
              <a:t>Upgrade to WebSocket.</a:t>
            </a:r>
          </a:p>
        </p:txBody>
      </p:sp>
    </p:spTree>
    <p:extLst>
      <p:ext uri="{BB962C8B-B14F-4D97-AF65-F5344CB8AC3E}">
        <p14:creationId xmlns:p14="http://schemas.microsoft.com/office/powerpoint/2010/main" val="3911123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Operation Names &amp;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2523"/>
            <a:ext cx="9144000" cy="4525963"/>
          </a:xfrm>
        </p:spPr>
        <p:txBody>
          <a:bodyPr wrap="square">
            <a:normAutofit/>
          </a:bodyPr>
          <a:lstStyle/>
          <a:p>
            <a:r>
              <a:rPr lang="en-US" sz="2800" dirty="0" err="1"/>
              <a:t>GraphQL</a:t>
            </a:r>
            <a:r>
              <a:rPr lang="en-US" sz="2800" dirty="0"/>
              <a:t> operation names are labels used to uniquely identify an operation in certain contexts.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A field is a single piece of information available within an operation’s selection set (</a:t>
            </a:r>
            <a:r>
              <a:rPr lang="en-US" sz="2800" dirty="0">
                <a:solidFill>
                  <a:srgbClr val="C00000"/>
                </a:solidFill>
              </a:rPr>
              <a:t>{}</a:t>
            </a:r>
            <a:r>
              <a:rPr lang="en-US" sz="2800" dirty="0"/>
              <a:t>).</a:t>
            </a:r>
          </a:p>
          <a:p>
            <a:r>
              <a:rPr lang="en-US" sz="2800" dirty="0"/>
              <a:t>It may contain their own selection set.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CD59A-C87D-D13F-E28B-0CF55F4C7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66044"/>
            <a:ext cx="2885440" cy="12629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C959D1-5BF5-26F5-8A80-3B77D38EC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13960"/>
            <a:ext cx="2694027" cy="18440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B3B2E1-A8B6-037F-E8DA-83725777D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013960"/>
            <a:ext cx="2038350" cy="1847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47166"/>
            <a:ext cx="9133840" cy="992378"/>
          </a:xfrm>
        </p:spPr>
        <p:txBody>
          <a:bodyPr wrap="square">
            <a:normAutofit/>
          </a:bodyPr>
          <a:lstStyle/>
          <a:p>
            <a:r>
              <a:rPr lang="en-US" sz="2800" dirty="0" err="1"/>
              <a:t>GraphQL</a:t>
            </a:r>
            <a:r>
              <a:rPr lang="en-US" sz="2800" dirty="0"/>
              <a:t> allows clients to send arguments for various fields in their queries to specify the results.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664A0-0CC8-4404-90EC-1F58C1E83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39543"/>
            <a:ext cx="8067040" cy="2268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65FFA0-D79A-39FA-78E9-8BC796BF7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58608"/>
            <a:ext cx="8067040" cy="22898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DFF0-97BD-3158-8C25-D3A965093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AE874-CA3D-4933-7954-BD4D3C6FA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Aliases</a:t>
            </a:r>
            <a:endParaRPr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3156E-5551-B757-871C-412E35114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1344"/>
            <a:ext cx="9133840" cy="992378"/>
          </a:xfrm>
        </p:spPr>
        <p:txBody>
          <a:bodyPr wrap="square">
            <a:normAutofit/>
          </a:bodyPr>
          <a:lstStyle/>
          <a:p>
            <a:r>
              <a:rPr lang="en-US" sz="2800" dirty="0"/>
              <a:t>Aliases allow clients to change a field’s response key to something other than the original field’s.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15A818-AC3B-6D52-39C1-2C44EC9BB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412" y="1873722"/>
            <a:ext cx="5704840" cy="23309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915B3E-A0C6-75B4-D44E-773CC7AFB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964" y="4298026"/>
            <a:ext cx="6307736" cy="255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03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73295-0869-5501-6A7F-6E23E8B72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E19F9-F56C-0255-4E5D-7637183AA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Fragments </a:t>
            </a:r>
            <a:endParaRPr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C66DC-4AAC-A0C6-263D-45E66661B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1336040"/>
          </a:xfrm>
        </p:spPr>
        <p:txBody>
          <a:bodyPr wrap="square">
            <a:normAutofit/>
          </a:bodyPr>
          <a:lstStyle/>
          <a:p>
            <a:r>
              <a:rPr lang="en-US" sz="2800" dirty="0"/>
              <a:t>They are a way to reuse fields</a:t>
            </a:r>
            <a:r>
              <a:rPr lang="en-US" sz="2800" b="1" dirty="0"/>
              <a:t> </a:t>
            </a:r>
            <a:r>
              <a:rPr lang="en-US" sz="2800" dirty="0"/>
              <a:t>in your </a:t>
            </a:r>
            <a:r>
              <a:rPr lang="en-US" sz="2800" dirty="0" err="1"/>
              <a:t>GraphQL</a:t>
            </a:r>
            <a:r>
              <a:rPr lang="en-US" sz="2800" dirty="0"/>
              <a:t> queries for avoiding repetition and improving readability.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778DD-384F-0788-F819-7C177C92E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4081"/>
            <a:ext cx="9144000" cy="29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62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1"/>
            <a:ext cx="9144000" cy="1143000"/>
          </a:xfrm>
        </p:spPr>
        <p:txBody>
          <a:bodyPr wrap="square">
            <a:normAutofit/>
          </a:bodyPr>
          <a:lstStyle/>
          <a:p>
            <a:r>
              <a:rPr lang="en-US" sz="2800" dirty="0"/>
              <a:t>Variables let you make your queries more dynamic, without rewriting the entire query every time.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CA929-750E-FB45-FA1E-617D8BD7A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1"/>
            <a:ext cx="9144000" cy="3391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EE54CF-121D-1B52-1BC2-62BA68250E74}"/>
              </a:ext>
            </a:extLst>
          </p:cNvPr>
          <p:cNvSpPr/>
          <p:nvPr/>
        </p:nvSpPr>
        <p:spPr>
          <a:xfrm>
            <a:off x="369454" y="5782424"/>
            <a:ext cx="4553527" cy="9541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C2835-A9A6-6639-F06A-51CCADBC790D}"/>
              </a:ext>
            </a:extLst>
          </p:cNvPr>
          <p:cNvSpPr txBox="1"/>
          <p:nvPr/>
        </p:nvSpPr>
        <p:spPr>
          <a:xfrm>
            <a:off x="359294" y="5785646"/>
            <a:ext cx="47240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C00000"/>
                </a:solidFill>
              </a:rPr>
              <a:t>$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⇒ To provide variable name.</a:t>
            </a:r>
          </a:p>
          <a:p>
            <a:r>
              <a:rPr lang="en-US" sz="2800" i="1" dirty="0">
                <a:solidFill>
                  <a:srgbClr val="C00000"/>
                </a:solidFill>
              </a:rPr>
              <a:t>!</a:t>
            </a:r>
            <a:r>
              <a:rPr lang="en-US" sz="2800" dirty="0"/>
              <a:t> ⇒ Means variable is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Directives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9640"/>
            <a:ext cx="9144000" cy="6029960"/>
          </a:xfrm>
        </p:spPr>
        <p:txBody>
          <a:bodyPr wrap="square">
            <a:normAutofit/>
          </a:bodyPr>
          <a:lstStyle/>
          <a:p>
            <a:r>
              <a:rPr lang="en-US" sz="2800" i="1" dirty="0"/>
              <a:t>Directives</a:t>
            </a:r>
            <a:r>
              <a:rPr lang="en-US" sz="2800" dirty="0"/>
              <a:t> are special annotations used to change the behavior of a field, fragment, or type dynamically without changing the query structure.</a:t>
            </a:r>
          </a:p>
          <a:p>
            <a:r>
              <a:rPr lang="en-US" sz="2800" dirty="0"/>
              <a:t>There are </a:t>
            </a:r>
            <a:r>
              <a:rPr lang="en-US" sz="2800" b="1" dirty="0"/>
              <a:t>two main types</a:t>
            </a:r>
            <a:r>
              <a:rPr lang="en-US" sz="2800" dirty="0"/>
              <a:t> of directives: </a:t>
            </a:r>
          </a:p>
          <a:p>
            <a:pPr lvl="1"/>
            <a:r>
              <a:rPr lang="en-US" b="1" dirty="0"/>
              <a:t>Query-level</a:t>
            </a:r>
            <a:r>
              <a:rPr lang="en-US" dirty="0"/>
              <a:t> ⇒ In the actual query (used by clients) like: </a:t>
            </a:r>
            <a:r>
              <a:rPr lang="en-US" i="1" dirty="0">
                <a:solidFill>
                  <a:srgbClr val="C00000"/>
                </a:solidFill>
              </a:rPr>
              <a:t>@skip</a:t>
            </a:r>
            <a:r>
              <a:rPr lang="en-US" dirty="0"/>
              <a:t>, </a:t>
            </a:r>
            <a:r>
              <a:rPr lang="en-US" i="1" dirty="0">
                <a:solidFill>
                  <a:srgbClr val="C00000"/>
                </a:solidFill>
              </a:rPr>
              <a:t>@include</a:t>
            </a:r>
            <a:r>
              <a:rPr lang="en-US" dirty="0"/>
              <a:t>, </a:t>
            </a:r>
            <a:r>
              <a:rPr lang="en-US" i="1" dirty="0">
                <a:solidFill>
                  <a:srgbClr val="C00000"/>
                </a:solidFill>
              </a:rPr>
              <a:t>@defer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94AD8-C01B-0153-3BFA-95C0825B8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3730663"/>
            <a:ext cx="6126480" cy="30940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B6A96-EDEC-CC97-D58F-727206737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BC4F-4297-F26E-6641-90BD1AD8A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Directives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582E2-3A92-AB92-323D-1847DBEF4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9640"/>
            <a:ext cx="9144000" cy="6029960"/>
          </a:xfrm>
        </p:spPr>
        <p:txBody>
          <a:bodyPr wrap="square">
            <a:normAutofit/>
          </a:bodyPr>
          <a:lstStyle/>
          <a:p>
            <a:pPr lvl="1"/>
            <a:r>
              <a:rPr lang="en-US" b="1" dirty="0"/>
              <a:t>Schema-level</a:t>
            </a:r>
            <a:r>
              <a:rPr lang="en-US" dirty="0"/>
              <a:t> ⇒ In the schema definition (used by developers) like: </a:t>
            </a:r>
            <a:r>
              <a:rPr lang="en-US" i="1" dirty="0">
                <a:solidFill>
                  <a:srgbClr val="C00000"/>
                </a:solidFill>
              </a:rPr>
              <a:t>@deprecated</a:t>
            </a:r>
            <a:r>
              <a:rPr lang="en-US" dirty="0"/>
              <a:t>, </a:t>
            </a:r>
            <a:r>
              <a:rPr lang="en-US" i="1" dirty="0">
                <a:solidFill>
                  <a:srgbClr val="C00000"/>
                </a:solidFill>
              </a:rPr>
              <a:t>@computed</a:t>
            </a:r>
            <a:r>
              <a:rPr lang="en-US" dirty="0"/>
              <a:t>, </a:t>
            </a:r>
            <a:r>
              <a:rPr lang="en-US" i="1" dirty="0">
                <a:solidFill>
                  <a:srgbClr val="C00000"/>
                </a:solidFill>
              </a:rPr>
              <a:t>@specifiedBy</a:t>
            </a:r>
          </a:p>
          <a:p>
            <a:pPr marL="457200" lvl="1" indent="0">
              <a:buNone/>
            </a:pPr>
            <a:endParaRPr lang="en-US" i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i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i="1" dirty="0">
              <a:solidFill>
                <a:srgbClr val="C00000"/>
              </a:solidFill>
            </a:endParaRPr>
          </a:p>
          <a:p>
            <a:pPr lvl="1"/>
            <a:r>
              <a:rPr lang="en-US" b="1" dirty="0"/>
              <a:t>Custom Directives </a:t>
            </a:r>
            <a:r>
              <a:rPr lang="en-US" dirty="0"/>
              <a:t>⇒  Developers created to enhance behavior like : </a:t>
            </a:r>
            <a:r>
              <a:rPr lang="en-US" i="1" dirty="0">
                <a:solidFill>
                  <a:srgbClr val="C00000"/>
                </a:solidFill>
              </a:rPr>
              <a:t>@computed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820CC-3A82-6D7A-39C5-1417AFBFD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05" y="2552931"/>
            <a:ext cx="6537341" cy="898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DE5719-487F-2F18-E295-81B71E408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43" y="4973997"/>
            <a:ext cx="6560503" cy="159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099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96960" cy="1143000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rgbClr val="7030A0"/>
                </a:solidFill>
              </a:rPr>
              <a:t>The Type System: Scalars</a:t>
            </a:r>
            <a:r>
              <a:rPr lang="en-US" b="1" dirty="0">
                <a:solidFill>
                  <a:srgbClr val="7030A0"/>
                </a:solidFill>
              </a:rPr>
              <a:t> &amp; Objects</a:t>
            </a:r>
            <a:endParaRPr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03680"/>
            <a:ext cx="9154160" cy="3040611"/>
          </a:xfrm>
        </p:spPr>
        <p:txBody>
          <a:bodyPr wrap="square">
            <a:normAutofit/>
          </a:bodyPr>
          <a:lstStyle/>
          <a:p>
            <a:r>
              <a:rPr lang="en-US" sz="2800" dirty="0" err="1"/>
              <a:t>GraphQL’s</a:t>
            </a:r>
            <a:r>
              <a:rPr lang="en-US" sz="2800" dirty="0"/>
              <a:t> types define the custom objects and data structures that make up a </a:t>
            </a:r>
            <a:r>
              <a:rPr lang="en-US" sz="2800" dirty="0" err="1"/>
              <a:t>GraphQL</a:t>
            </a:r>
            <a:r>
              <a:rPr lang="en-US" sz="2800" dirty="0"/>
              <a:t> schema.</a:t>
            </a:r>
          </a:p>
          <a:p>
            <a:r>
              <a:rPr lang="en-US" sz="2800" dirty="0"/>
              <a:t>Scalars are primitive values with no nested fields or objects like: </a:t>
            </a:r>
            <a:r>
              <a:rPr lang="en-US" sz="2800" i="1" dirty="0">
                <a:solidFill>
                  <a:srgbClr val="C00000"/>
                </a:solidFill>
              </a:rPr>
              <a:t>ID</a:t>
            </a:r>
            <a:r>
              <a:rPr lang="en-US" sz="2800" i="1" dirty="0"/>
              <a:t>, </a:t>
            </a:r>
            <a:r>
              <a:rPr lang="en-US" sz="2800" i="1" dirty="0">
                <a:solidFill>
                  <a:srgbClr val="C00000"/>
                </a:solidFill>
              </a:rPr>
              <a:t>String</a:t>
            </a:r>
            <a:r>
              <a:rPr lang="en-US" sz="2800" i="1" dirty="0"/>
              <a:t>, </a:t>
            </a:r>
            <a:r>
              <a:rPr lang="en-US" sz="2800" i="1" dirty="0">
                <a:solidFill>
                  <a:srgbClr val="C00000"/>
                </a:solidFill>
              </a:rPr>
              <a:t>Int</a:t>
            </a:r>
            <a:r>
              <a:rPr lang="en-US" sz="2800" i="1" dirty="0"/>
              <a:t>, </a:t>
            </a:r>
            <a:r>
              <a:rPr lang="en-US" sz="2800" i="1" dirty="0">
                <a:solidFill>
                  <a:srgbClr val="C00000"/>
                </a:solidFill>
              </a:rPr>
              <a:t>Float</a:t>
            </a:r>
            <a:r>
              <a:rPr lang="en-US" sz="2800" i="1" dirty="0"/>
              <a:t>, </a:t>
            </a:r>
            <a:r>
              <a:rPr lang="en-US" sz="2800" i="1" dirty="0">
                <a:solidFill>
                  <a:srgbClr val="C00000"/>
                </a:solidFill>
              </a:rPr>
              <a:t>Boolean</a:t>
            </a:r>
            <a:r>
              <a:rPr lang="en-US" sz="2800" i="1" dirty="0"/>
              <a:t>.</a:t>
            </a:r>
          </a:p>
          <a:p>
            <a:r>
              <a:rPr lang="en-US" sz="2800" dirty="0"/>
              <a:t>Object types define custom data structures with multiple fields.</a:t>
            </a:r>
            <a:endParaRPr lang="en-US" sz="28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18A06-CA88-EF43-895F-C21BE4EFE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19" y="4330308"/>
            <a:ext cx="2888790" cy="25276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D62961-93E0-889D-EAD3-33B71466D6EE}"/>
              </a:ext>
            </a:extLst>
          </p:cNvPr>
          <p:cNvSpPr/>
          <p:nvPr/>
        </p:nvSpPr>
        <p:spPr>
          <a:xfrm>
            <a:off x="3173614" y="4904971"/>
            <a:ext cx="5882640" cy="105616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65A14-5FAF-5001-A0FA-3527668875EB}"/>
              </a:ext>
            </a:extLst>
          </p:cNvPr>
          <p:cNvSpPr txBox="1"/>
          <p:nvPr/>
        </p:nvSpPr>
        <p:spPr>
          <a:xfrm>
            <a:off x="3196705" y="4956001"/>
            <a:ext cx="59574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</a:rPr>
              <a:t>!</a:t>
            </a:r>
            <a:r>
              <a:rPr lang="en-US" sz="2800" dirty="0"/>
              <a:t> ⇒ Means </a:t>
            </a:r>
            <a:r>
              <a:rPr lang="en-US" sz="2800" i="1" dirty="0">
                <a:solidFill>
                  <a:srgbClr val="FF0000"/>
                </a:solidFill>
              </a:rPr>
              <a:t>id</a:t>
            </a:r>
            <a:r>
              <a:rPr lang="en-US" sz="2800" dirty="0"/>
              <a:t> is required in each object.</a:t>
            </a:r>
          </a:p>
          <a:p>
            <a:r>
              <a:rPr lang="en-US" sz="2800" i="1" dirty="0">
                <a:solidFill>
                  <a:srgbClr val="FF0000"/>
                </a:solidFill>
              </a:rPr>
              <a:t>owner</a:t>
            </a:r>
            <a:r>
              <a:rPr lang="en-US" sz="2800" dirty="0"/>
              <a:t> ⇒ Another object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762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8238"/>
            <a:ext cx="9144000" cy="930707"/>
          </a:xfrm>
        </p:spPr>
        <p:txBody>
          <a:bodyPr wrap="square">
            <a:normAutofit lnSpcReduction="10000"/>
          </a:bodyPr>
          <a:lstStyle/>
          <a:p>
            <a:r>
              <a:rPr lang="en-US" sz="2800" dirty="0"/>
              <a:t>They are used when you need to pass structured, complex data (like objects) as arguments to a query or mutation.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D7307-34E6-9FA1-50F8-AC5355A96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7312"/>
            <a:ext cx="2746983" cy="2348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109C5A-9921-85A7-ECA2-68E9130EA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109" y="2874553"/>
            <a:ext cx="6293891" cy="21543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Enums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949960"/>
            <a:ext cx="8839201" cy="1553095"/>
          </a:xfrm>
        </p:spPr>
        <p:txBody>
          <a:bodyPr wrap="square">
            <a:noAutofit/>
          </a:bodyPr>
          <a:lstStyle/>
          <a:p>
            <a:endParaRPr sz="2800" dirty="0"/>
          </a:p>
          <a:p>
            <a:pPr>
              <a:defRPr sz="1800"/>
            </a:pPr>
            <a:r>
              <a:rPr lang="en-US" sz="2800" dirty="0"/>
              <a:t>They are p</a:t>
            </a:r>
            <a:r>
              <a:rPr sz="2800" dirty="0"/>
              <a:t>redefined list of string values</a:t>
            </a:r>
            <a:r>
              <a:rPr lang="en-US" sz="2800" dirty="0"/>
              <a:t> used to r</a:t>
            </a:r>
            <a:r>
              <a:rPr sz="2800" dirty="0"/>
              <a:t>estricts client input (validates arguments like sorting).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FD3628-48AE-C5FC-1EFE-1B793175F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9" y="2643930"/>
            <a:ext cx="4583841" cy="40986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255B72-C8A2-2094-17A3-5F7E1DC4E3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72" t="4183" r="3384" b="7891"/>
          <a:stretch>
            <a:fillRect/>
          </a:stretch>
        </p:blipFill>
        <p:spPr>
          <a:xfrm>
            <a:off x="4763746" y="3677689"/>
            <a:ext cx="4291945" cy="17516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EC80-5C2A-DFD8-758E-96D98344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7E487-46FD-AC0E-081D-CA55BE9EF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>
                <a:solidFill>
                  <a:srgbClr val="7030A0"/>
                </a:solidFill>
              </a:rPr>
              <a:t>Unions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5D044-917D-F8B0-21EE-FCF8C1757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6680"/>
            <a:ext cx="9144000" cy="4525963"/>
          </a:xfrm>
        </p:spPr>
        <p:txBody>
          <a:bodyPr wrap="square">
            <a:noAutofit/>
          </a:bodyPr>
          <a:lstStyle/>
          <a:p>
            <a:pPr>
              <a:defRPr sz="1800"/>
            </a:pPr>
            <a:r>
              <a:rPr lang="en-US" sz="2800" dirty="0"/>
              <a:t>Unions allow a field to return one of multiple object types.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7AB08D-4DCC-A41F-534C-D0E901453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3265"/>
            <a:ext cx="2503055" cy="2260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CD707C-5B3B-182E-E1FB-7B76370E9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777" y="2967217"/>
            <a:ext cx="6517501" cy="219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13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320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0160" y="1048327"/>
            <a:ext cx="9154160" cy="1946881"/>
          </a:xfrm>
        </p:spPr>
        <p:txBody>
          <a:bodyPr wrap="square">
            <a:normAutofit/>
          </a:bodyPr>
          <a:lstStyle/>
          <a:p>
            <a:r>
              <a:rPr lang="en-US" sz="2800" dirty="0"/>
              <a:t>Another way to return multiple types within the same field is through interfaces.</a:t>
            </a:r>
          </a:p>
          <a:p>
            <a:r>
              <a:rPr lang="en-US" sz="2800" dirty="0"/>
              <a:t>Interfaces require all implementing types to have the same fields (at least the </a:t>
            </a:r>
            <a:r>
              <a:rPr lang="en-US" sz="2800" b="1" dirty="0"/>
              <a:t>ones</a:t>
            </a:r>
            <a:r>
              <a:rPr lang="en-US" sz="2800" dirty="0"/>
              <a:t> defined in the interface).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E3C104-027B-D9C8-4D84-3448BF9B1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19" y="3022917"/>
            <a:ext cx="3282025" cy="3719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820A01-2237-C1D4-C301-A70E92624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507" y="3022917"/>
            <a:ext cx="3003348" cy="37196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Introspection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12240"/>
            <a:ext cx="9067800" cy="4525963"/>
          </a:xfrm>
        </p:spPr>
        <p:txBody>
          <a:bodyPr wrap="square">
            <a:normAutofit/>
          </a:bodyPr>
          <a:lstStyle/>
          <a:p>
            <a:r>
              <a:rPr lang="en-US" sz="2800" dirty="0"/>
              <a:t>It is a built-in tool that empowers clients to discover actions they can take using a </a:t>
            </a:r>
            <a:r>
              <a:rPr lang="en-US" sz="2800" dirty="0" err="1"/>
              <a:t>GraphQL</a:t>
            </a:r>
            <a:r>
              <a:rPr lang="en-US" sz="2800" dirty="0"/>
              <a:t> API.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It lets clients query a </a:t>
            </a:r>
            <a:r>
              <a:rPr lang="en-US" sz="2800" dirty="0" err="1"/>
              <a:t>GraphQL</a:t>
            </a:r>
            <a:r>
              <a:rPr lang="en-US" sz="2800" dirty="0"/>
              <a:t> server for information about its underlying schema, which includes data like queries, mutations, subscriptions, directives, types, fields, and more.</a:t>
            </a:r>
          </a:p>
          <a:p>
            <a:pPr marL="0" indent="0"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5241C-AA66-9140-9233-ADC1E3A1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CC3D-CE24-6173-62E7-8F1CE8BA3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Introspection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79FF47-9AE3-2F01-CA3A-A23D34FDE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62804"/>
              </p:ext>
            </p:extLst>
          </p:nvPr>
        </p:nvGraphicFramePr>
        <p:xfrm>
          <a:off x="59531" y="1747391"/>
          <a:ext cx="9024938" cy="504180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134689">
                  <a:extLst>
                    <a:ext uri="{9D8B030D-6E8A-4147-A177-3AD203B41FA5}">
                      <a16:colId xmlns:a16="http://schemas.microsoft.com/office/drawing/2014/main" val="3695721335"/>
                    </a:ext>
                  </a:extLst>
                </a:gridCol>
                <a:gridCol w="6890249">
                  <a:extLst>
                    <a:ext uri="{9D8B030D-6E8A-4147-A177-3AD203B41FA5}">
                      <a16:colId xmlns:a16="http://schemas.microsoft.com/office/drawing/2014/main" val="3098256640"/>
                    </a:ext>
                  </a:extLst>
                </a:gridCol>
              </a:tblGrid>
              <a:tr h="226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/>
                        <a:t>Introspection type</a:t>
                      </a:r>
                      <a:endParaRPr lang="en-US" sz="2200" dirty="0"/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/>
                        <a:t>Usage</a:t>
                      </a:r>
                      <a:endParaRPr lang="en-US" sz="2200" dirty="0"/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2359159150"/>
                  </a:ext>
                </a:extLst>
              </a:tr>
              <a:tr h="397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__Schema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Provides all information about the schema of a </a:t>
                      </a:r>
                      <a:r>
                        <a:rPr lang="en-US" sz="2200" dirty="0" err="1"/>
                        <a:t>GraphQL</a:t>
                      </a:r>
                      <a:r>
                        <a:rPr lang="en-US" sz="2200" dirty="0"/>
                        <a:t> service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3936198849"/>
                  </a:ext>
                </a:extLst>
              </a:tr>
              <a:tr h="226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__Type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Provides all information about a type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1542159618"/>
                  </a:ext>
                </a:extLst>
              </a:tr>
              <a:tr h="567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__</a:t>
                      </a:r>
                      <a:r>
                        <a:rPr lang="en-US" sz="2200" dirty="0" err="1"/>
                        <a:t>TypeKind</a:t>
                      </a:r>
                      <a:endParaRPr lang="en-US" sz="2200" dirty="0"/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Provides the different kinds of types (scalars, objects, interface, union, </a:t>
                      </a:r>
                      <a:r>
                        <a:rPr lang="en-US" sz="2200" dirty="0" err="1"/>
                        <a:t>enum</a:t>
                      </a:r>
                      <a:r>
                        <a:rPr lang="en-US" sz="2200" dirty="0"/>
                        <a:t>, and so on)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4096914549"/>
                  </a:ext>
                </a:extLst>
              </a:tr>
              <a:tr h="397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__Field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Provides all information for each field of an object or interface type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1711494818"/>
                  </a:ext>
                </a:extLst>
              </a:tr>
              <a:tr h="397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__InputValue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Provides field and directive argument information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777099271"/>
                  </a:ext>
                </a:extLst>
              </a:tr>
              <a:tr h="397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__EnumValue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Provides one of the possible values of an </a:t>
                      </a:r>
                      <a:r>
                        <a:rPr lang="en-US" sz="2200" dirty="0" err="1"/>
                        <a:t>enum</a:t>
                      </a:r>
                      <a:r>
                        <a:rPr lang="en-US" sz="2200" dirty="0"/>
                        <a:t>.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2115238839"/>
                  </a:ext>
                </a:extLst>
              </a:tr>
              <a:tr h="397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__Directive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Provides all information on both custom and built-in directives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310418644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A2DB712-D873-8185-253F-16144C324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7431"/>
            <a:ext cx="1055616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Introspection System Types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244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5D93B-7E15-47DC-1D16-CA75CCC6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1678-955F-B7C5-E202-8D7BD3A11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07" y="-150471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Introspection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8ADD1-F5BD-DD82-7781-99489553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200" y="856649"/>
            <a:ext cx="4927600" cy="2430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2F9B1A-683E-4D44-59B4-0F7834D15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280" y="3370666"/>
            <a:ext cx="5288871" cy="348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79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4744-BE28-63A6-9D74-50CEB4B02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AA42-C0AD-AC5C-4C8A-E942E7DD1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2382" y="2702985"/>
            <a:ext cx="5830818" cy="1102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6D3B9D"/>
                </a:solidFill>
                <a:latin typeface="Calibri"/>
              </a:rPr>
              <a:t>Thanks for watching!</a:t>
            </a:r>
            <a:endParaRPr sz="3301" b="1" dirty="0">
              <a:solidFill>
                <a:srgbClr val="6D3B9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9952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811</Words>
  <Application>Microsoft Office PowerPoint</Application>
  <PresentationFormat>On-screen Show (4:3)</PresentationFormat>
  <Paragraphs>111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GraphQL Specifications</vt:lpstr>
      <vt:lpstr>Introduction GraphQL Specifications</vt:lpstr>
      <vt:lpstr>The Language: Query Anatomy</vt:lpstr>
      <vt:lpstr>Operation Types: Mutations</vt:lpstr>
      <vt:lpstr>Operation Types: Subscriptions</vt:lpstr>
      <vt:lpstr>Operation Types: Subscriptions</vt:lpstr>
      <vt:lpstr>Operation Names &amp; Fields</vt:lpstr>
      <vt:lpstr>Arguments</vt:lpstr>
      <vt:lpstr>Aliases</vt:lpstr>
      <vt:lpstr>Fragments </vt:lpstr>
      <vt:lpstr>Variables</vt:lpstr>
      <vt:lpstr>Directives</vt:lpstr>
      <vt:lpstr>Directives</vt:lpstr>
      <vt:lpstr>The Type System: Scalars &amp; Objects</vt:lpstr>
      <vt:lpstr>Inputs</vt:lpstr>
      <vt:lpstr>Enums</vt:lpstr>
      <vt:lpstr>Unions</vt:lpstr>
      <vt:lpstr>Interfaces</vt:lpstr>
      <vt:lpstr>Introspection</vt:lpstr>
      <vt:lpstr>Introspection</vt:lpstr>
      <vt:lpstr>Introspection</vt:lpstr>
      <vt:lpstr>Thanks for watching!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youcef hany</cp:lastModifiedBy>
  <cp:revision>5</cp:revision>
  <dcterms:created xsi:type="dcterms:W3CDTF">2013-01-27T09:14:16Z</dcterms:created>
  <dcterms:modified xsi:type="dcterms:W3CDTF">2025-11-22T12:32:26Z</dcterms:modified>
  <cp:category/>
</cp:coreProperties>
</file>